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42D47"/>
          </a:solidFill>
          <a:ln w="12700">
            <a:solidFill>
              <a:srgbClr val="142D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D47"/>
          </a:solidFill>
          <a:ln w="12700">
            <a:solidFill>
              <a:srgbClr val="142D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880360"/>
            <a:ext cx="41148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A8DADC"/>
                </a:solidFill>
              </a:rPr>
              <a:t>CAPSTONE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Prediksi Harga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Apartemen Daegu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30175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DADC"/>
                </a:solidFill>
              </a:rPr>
              <a:t>Menggunakan Machine Learning untuk membantu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DADC"/>
                </a:solidFill>
              </a:rPr>
              <a:t>pemilik unit menentukan harga yang kompetitif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4462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FC4"/>
                </a:solidFill>
              </a:rPr>
              <a:t>Data Science · Supervised Learning · Regression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 Presentasi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0" cy="1371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E"/>
                </a:solidFill>
              </a:rPr>
              <a:t>Masalah Bisnis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Latar belakang &amp; problem statement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548640" cy="1371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9476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E"/>
                </a:solidFill>
              </a:rPr>
              <a:t>Data &amp; EDA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Pemahaman dataset &amp; statistik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88720"/>
            <a:ext cx="548640" cy="1371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E"/>
                </a:solidFill>
              </a:rPr>
              <a:t>Data Preparation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Cleaning, outlier, &amp; feature engineering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43200"/>
            <a:ext cx="548640" cy="1371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E"/>
                </a:solidFill>
              </a:rPr>
              <a:t>Modeling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337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Benchmark &amp; hyperparameter tuning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743200"/>
            <a:ext cx="548640" cy="1371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94760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E"/>
                </a:solidFill>
              </a:rPr>
              <a:t>Hasil &amp; Kesimpulan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94760" y="3337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Performa model &amp; rekomendasi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 Masalah Bisnis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20624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Konteks &amp; Masalah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Apartemen di Daegu, Korea Selatan dijual oleh pemilik individu melalui platform properti. Tanpa referensi harga yang akurat, pemilik sering salah menentukan harga: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🔴  Harga terlalu tinggi → unit sulit terjual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🟡  Harga terlalu rendah → kehilangan profit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332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Bagaimana cara memprediksi harga jual apartemen (SalePrice) secara akurat berdasarkan karakteristik unit dan lingkungan?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743200"/>
            <a:ext cx="4023360" cy="457200"/>
          </a:xfrm>
          <a:prstGeom prst="rect">
            <a:avLst/>
          </a:prstGeom>
          <a:solidFill>
            <a:srgbClr val="2D7D4E"/>
          </a:solidFill>
          <a:ln w="12700">
            <a:solidFill>
              <a:srgbClr val="2D7D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7706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Goals &amp; Pendekatan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2461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🎯 Goal: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Membangun model regresi ML untuk prediksi SalePrice
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📊 Pendekatan: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Supervised Learning — Regression
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📏 Metrik: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MAPE (focus), RMSE, R²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 Data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828800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78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4.123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EF7"/>
                </a:solidFill>
              </a:rPr>
              <a:t>Total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828800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78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EF7"/>
                </a:solidFill>
              </a:rPr>
              <a:t>Fitur Input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828800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78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EF7"/>
                </a:solidFill>
              </a:rPr>
              <a:t>Missing Values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1828800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78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 Target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EF7"/>
                </a:solidFill>
              </a:rPr>
              <a:t>SalePrice (Won)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8412480" cy="283464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4937760"/>
              </a:tblGrid>
              <a:tr h="2576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Kolom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Deskripsi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</a:tr>
              <a:tr h="2576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HallwayType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Kategorikal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Tipe koridor (terraced, mixed, corridor)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76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TimeToSubway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Kategorikal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Waktu ke stasiun subway terdekat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</a:tr>
              <a:tr h="2576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SubwayStation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Kategorikal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Nama stasiun subway terdekat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76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N_FacilitiesNearBy(ETC)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Numerik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Jumlah fasilitas umum di sekitar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</a:tr>
              <a:tr h="2576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N_FacilitiesNearBy(PublicOffice)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Numerik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Jumlah kantor publik di sekitar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76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N_SchoolNearBy(University)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Numerik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Jumlah universitas di sekitar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</a:tr>
              <a:tr h="2576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N_Parkinglot(Basement)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Numerik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Jumlah slot parkir basement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76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YearBuilt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Numerik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Tahun pembangunan apartemen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</a:tr>
              <a:tr h="2576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N_FacilitiesInApt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Numerik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Jumlah fasilitas dalam apartemen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76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Size(sqf)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Numerik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Luas apartemen (sqft)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3. Data Preparation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475488"/>
          </a:xfrm>
          <a:prstGeom prst="rect">
            <a:avLst/>
          </a:prstGeom>
          <a:solidFill>
            <a:srgbClr val="2D7D4E"/>
          </a:solidFill>
          <a:ln w="12700">
            <a:solidFill>
              <a:srgbClr val="2D7D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06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3.1  Cek Missing Values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✅  0 missing values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Data sudah bersih, tidak perlu imputasi.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51560"/>
            <a:ext cx="393192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106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3.2  Hapus Duplikat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645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🗑️  1.422 duplikat dihapus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4.123 → 2.701 baris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393192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266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3.3  Tangani Outlier (IQR)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📊  94 baris outlier dihapus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2.701 → 2.607 baris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297180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971800"/>
            <a:ext cx="3931920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0266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3.4  Feature Engineering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566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⚙️  Buat fitur ApartmentAge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= 2024 − YearBuilt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4. Modeling &amp; Benchmark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Train-Test Split: 80% train / 20% test  |  Preprocessing: RobustScaler + OneHotEncoder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192024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  <a:gridCol w="1645920"/>
                <a:gridCol w="1463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MAPE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Linear Regression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20.91%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48,804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0.7643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Decision Tree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19.44%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45,765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0.7927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19.36%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45,773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0.7927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Gradient Boosting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19.45%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45,711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0.7932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XGBoost ⭐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19.44%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45,764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0.7928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429000"/>
            <a:ext cx="8412480" cy="1463040"/>
          </a:xfrm>
          <a:prstGeom prst="rect">
            <a:avLst/>
          </a:prstGeom>
          <a:solidFill>
            <a:srgbClr val="EFF9F6"/>
          </a:solidFill>
          <a:ln w="12700">
            <a:solidFill>
              <a:srgbClr val="2D7D4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3429000"/>
            <a:ext cx="109728" cy="1463040"/>
          </a:xfrm>
          <a:prstGeom prst="rect">
            <a:avLst/>
          </a:prstGeom>
          <a:solidFill>
            <a:srgbClr val="2D7D4E"/>
          </a:solidFill>
          <a:ln w="12700">
            <a:solidFill>
              <a:srgbClr val="2D7D4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49300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E"/>
                </a:solidFill>
              </a:rPr>
              <a:t>🏆  Hasil Hyperparameter Tuning (XGBoost + GridSearchCV)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388620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Best Params: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learning_rate=0.1, max_depth=3, n_estimators=200  | 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D7D4E"/>
                </a:solidFill>
              </a:rPr>
              <a:t>MAPE: 19.34%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  |  RMSE: 45,566  |  R²: 0.7945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4.5 Feature Importance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24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HallwayType_terraced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91840" y="1060704"/>
            <a:ext cx="5408676" cy="2286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91956" y="10241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0.910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HallwayType_corridor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453896"/>
            <a:ext cx="237744" cy="228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1024" y="1417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0.040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8105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N_Parkinglot(Basement)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847088"/>
            <a:ext cx="91440" cy="228600"/>
          </a:xfrm>
          <a:prstGeom prst="rect">
            <a:avLst/>
          </a:prstGeom>
          <a:solidFill>
            <a:srgbClr val="3B9CBC"/>
          </a:solidFill>
          <a:ln w="12700">
            <a:solidFill>
              <a:srgbClr val="3B9C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81051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2037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ApartmentAge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240280"/>
            <a:ext cx="91440" cy="228600"/>
          </a:xfrm>
          <a:prstGeom prst="rect">
            <a:avLst/>
          </a:prstGeom>
          <a:solidFill>
            <a:srgbClr val="52B4D0"/>
          </a:solidFill>
          <a:ln w="12700">
            <a:solidFill>
              <a:srgbClr val="52B4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20370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5968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N_FacilitiesNearBy(ETC)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2633472"/>
            <a:ext cx="91440" cy="228600"/>
          </a:xfrm>
          <a:prstGeom prst="rect">
            <a:avLst/>
          </a:prstGeom>
          <a:solidFill>
            <a:srgbClr val="6EC8E0"/>
          </a:solidFill>
          <a:ln w="12700">
            <a:solidFill>
              <a:srgbClr val="6EC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59689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0.008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2990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Size(sqf)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026664"/>
            <a:ext cx="91440" cy="228600"/>
          </a:xfrm>
          <a:prstGeom prst="rect">
            <a:avLst/>
          </a:prstGeom>
          <a:solidFill>
            <a:srgbClr val="87D7EA"/>
          </a:solidFill>
          <a:ln w="12700">
            <a:solidFill>
              <a:srgbClr val="87D7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9900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0.007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N_FacilitiesInApt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419856"/>
            <a:ext cx="91440" cy="228600"/>
          </a:xfrm>
          <a:prstGeom prst="rect">
            <a:avLst/>
          </a:prstGeom>
          <a:solidFill>
            <a:srgbClr val="9FE2EF"/>
          </a:solidFill>
          <a:ln w="12700">
            <a:solidFill>
              <a:srgbClr val="9F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383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0.006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7764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N_SchoolNearBy(University)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813048"/>
            <a:ext cx="91440" cy="228600"/>
          </a:xfrm>
          <a:prstGeom prst="rect">
            <a:avLst/>
          </a:prstGeom>
          <a:solidFill>
            <a:srgbClr val="B7ECF4"/>
          </a:solidFill>
          <a:ln w="12700">
            <a:solidFill>
              <a:srgbClr val="B7EC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7764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1696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SubwayStation_Kyungbuk_uni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4206240"/>
            <a:ext cx="91440" cy="228600"/>
          </a:xfrm>
          <a:prstGeom prst="rect">
            <a:avLst/>
          </a:prstGeom>
          <a:solidFill>
            <a:srgbClr val="CCF3F9"/>
          </a:solidFill>
          <a:ln w="12700">
            <a:solidFill>
              <a:srgbClr val="CCF3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416966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5628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N_FacilitiesNearBy(PublicOffice)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4599432"/>
            <a:ext cx="91440" cy="228600"/>
          </a:xfrm>
          <a:prstGeom prst="rect">
            <a:avLst/>
          </a:prstGeom>
          <a:solidFill>
            <a:srgbClr val="DDF8FC"/>
          </a:solidFill>
          <a:ln w="12700">
            <a:solidFill>
              <a:srgbClr val="DDF8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456285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0.003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42D47"/>
          </a:solidFill>
          <a:ln w="12700">
            <a:solidFill>
              <a:srgbClr val="142D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5. Kesimpulan &amp; Rekomendasi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412480" cy="54864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3931920" cy="1097280"/>
          </a:xfrm>
          <a:prstGeom prst="rect">
            <a:avLst/>
          </a:prstGeom>
          <a:solidFill>
            <a:srgbClr val="1E3A54"/>
          </a:solidFill>
          <a:ln w="12700">
            <a:solidFill>
              <a:srgbClr val="2E5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</a:rPr>
              <a:t>🏆  Model Terbaik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D4E6"/>
                </a:solidFill>
              </a:rPr>
              <a:t>XGBoost dipilih sebagai final model setelah hyperparameter tuning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3931920" cy="1097280"/>
          </a:xfrm>
          <a:prstGeom prst="rect">
            <a:avLst/>
          </a:prstGeom>
          <a:solidFill>
            <a:srgbClr val="1E3A54"/>
          </a:solidFill>
          <a:ln w="12700">
            <a:solidFill>
              <a:srgbClr val="2E5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</a:rPr>
              <a:t>📊  Performa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D4E6"/>
                </a:solidFill>
              </a:rPr>
              <a:t>MAPE ≈ 19.34% — rata-rata prediksi meleset ~19% dari harga aktual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3931920" cy="1097280"/>
          </a:xfrm>
          <a:prstGeom prst="rect">
            <a:avLst/>
          </a:prstGeom>
          <a:solidFill>
            <a:srgbClr val="1E3A54"/>
          </a:solidFill>
          <a:ln w="12700">
            <a:solidFill>
              <a:srgbClr val="2E5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77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</a:rPr>
              <a:t>🔑  Fitur Terpenting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D4E6"/>
                </a:solidFill>
              </a:rPr>
              <a:t>HallwayType (terraced), N_Parkinglot, dan ApartmentAge paling berpengaruh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286000"/>
            <a:ext cx="3931920" cy="1097280"/>
          </a:xfrm>
          <a:prstGeom prst="rect">
            <a:avLst/>
          </a:prstGeom>
          <a:solidFill>
            <a:srgbClr val="1E3A54"/>
          </a:solidFill>
          <a:ln w="12700">
            <a:solidFill>
              <a:srgbClr val="2E5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377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</a:rPr>
              <a:t>✅  Kapan Dipercaya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D4E6"/>
                </a:solidFill>
              </a:rPr>
              <a:t>Apartemen dengan ukuran &amp; lokasi dalam rentang data training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ADC"/>
                </a:solidFill>
              </a:rPr>
              <a:t>💡 Rekomendasi ke depan: Tambah fitur GPS · Update data berkala · Coba LightGBM/CatBoost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29100"/>
            <a:ext cx="9144000" cy="9144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Terima Kasih! 🙏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EEF7"/>
                </a:solidFill>
              </a:rPr>
              <a:t>Ada pertanyaan?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AFC4"/>
                </a:solidFill>
              </a:rPr>
              <a:t>Prediksi Harga Apartemen Daegu · Machine Learning Regression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Prediksi Harga Apartemen Daegu</dc:title>
  <dc:subject>PptxGenJS Presentation</dc:subject>
  <dc:creator>PptxGenJS</dc:creator>
  <cp:lastModifiedBy>PptxGenJS</cp:lastModifiedBy>
  <cp:revision>1</cp:revision>
  <dcterms:created xsi:type="dcterms:W3CDTF">2026-04-02T11:04:47Z</dcterms:created>
  <dcterms:modified xsi:type="dcterms:W3CDTF">2026-04-02T11:04:47Z</dcterms:modified>
</cp:coreProperties>
</file>